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notesMasterIdLst>
    <p:notesMasterId r:id="rId9"/>
  </p:notesMasterIdLst>
  <p:sldIdLst>
    <p:sldId id="256" r:id="rId2"/>
    <p:sldId id="257" r:id="rId3"/>
    <p:sldId id="259" r:id="rId4"/>
    <p:sldId id="260" r:id="rId5"/>
    <p:sldId id="262" r:id="rId6"/>
    <p:sldId id="263" r:id="rId7"/>
    <p:sldId id="261"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113" d="100"/>
          <a:sy n="113" d="100"/>
        </p:scale>
        <p:origin x="510"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7E68872-FB6D-46E6-AF79-E03BF8B06F15}" type="datetimeFigureOut">
              <a:rPr lang="en-IN" smtClean="0"/>
              <a:t>11-09-2025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A09D2D6-4EDD-4D8E-9CBE-A5BA040626B7}" type="slidenum">
              <a:rPr lang="en-IN" smtClean="0"/>
              <a:t>‹#›</a:t>
            </a:fld>
            <a:endParaRPr lang="en-IN"/>
          </a:p>
        </p:txBody>
      </p:sp>
    </p:spTree>
    <p:extLst>
      <p:ext uri="{BB962C8B-B14F-4D97-AF65-F5344CB8AC3E}">
        <p14:creationId xmlns:p14="http://schemas.microsoft.com/office/powerpoint/2010/main" val="3075590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5A09D2D6-4EDD-4D8E-9CBE-A5BA040626B7}" type="slidenum">
              <a:rPr lang="en-IN" smtClean="0"/>
              <a:t>3</a:t>
            </a:fld>
            <a:endParaRPr lang="en-IN"/>
          </a:p>
        </p:txBody>
      </p:sp>
    </p:spTree>
    <p:extLst>
      <p:ext uri="{BB962C8B-B14F-4D97-AF65-F5344CB8AC3E}">
        <p14:creationId xmlns:p14="http://schemas.microsoft.com/office/powerpoint/2010/main" val="31698682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7ECB43E-50EE-4F48-BC0A-8D3F0EDD04CD}" type="datetimeFigureOut">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A10DD68-FAF8-4F00-BEC5-C5373589FB06}" type="slidenum">
              <a:rPr lang="en-IN" smtClean="0"/>
              <a:t>‹#›</a:t>
            </a:fld>
            <a:endParaRPr lang="en-IN"/>
          </a:p>
        </p:txBody>
      </p:sp>
    </p:spTree>
    <p:extLst>
      <p:ext uri="{BB962C8B-B14F-4D97-AF65-F5344CB8AC3E}">
        <p14:creationId xmlns:p14="http://schemas.microsoft.com/office/powerpoint/2010/main" val="666743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7ECB43E-50EE-4F48-BC0A-8D3F0EDD04CD}" type="datetimeFigureOut">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A10DD68-FAF8-4F00-BEC5-C5373589FB06}" type="slidenum">
              <a:rPr lang="en-IN" smtClean="0"/>
              <a:t>‹#›</a:t>
            </a:fld>
            <a:endParaRPr lang="en-IN"/>
          </a:p>
        </p:txBody>
      </p:sp>
    </p:spTree>
    <p:extLst>
      <p:ext uri="{BB962C8B-B14F-4D97-AF65-F5344CB8AC3E}">
        <p14:creationId xmlns:p14="http://schemas.microsoft.com/office/powerpoint/2010/main" val="2063003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ECB43E-50EE-4F48-BC0A-8D3F0EDD04CD}" type="datetimeFigureOut">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A10DD68-FAF8-4F00-BEC5-C5373589FB06}" type="slidenum">
              <a:rPr lang="en-IN" smtClean="0"/>
              <a:t>‹#›</a:t>
            </a:fld>
            <a:endParaRPr lang="en-IN"/>
          </a:p>
        </p:txBody>
      </p:sp>
    </p:spTree>
    <p:extLst>
      <p:ext uri="{BB962C8B-B14F-4D97-AF65-F5344CB8AC3E}">
        <p14:creationId xmlns:p14="http://schemas.microsoft.com/office/powerpoint/2010/main" val="610236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7ECB43E-50EE-4F48-BC0A-8D3F0EDD04CD}" type="datetimeFigureOut">
              <a:rPr lang="en-IN" smtClean="0"/>
              <a:t>11-09-2025</a:t>
            </a:fld>
            <a:endParaRPr lang="en-IN"/>
          </a:p>
        </p:txBody>
      </p:sp>
      <p:sp>
        <p:nvSpPr>
          <p:cNvPr id="6" name="Footer Placeholder 5"/>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A10DD68-FAF8-4F00-BEC5-C5373589FB06}" type="slidenum">
              <a:rPr lang="en-IN" smtClean="0"/>
              <a:t>‹#›</a:t>
            </a:fld>
            <a:endParaRPr lang="en-IN"/>
          </a:p>
        </p:txBody>
      </p:sp>
    </p:spTree>
    <p:extLst>
      <p:ext uri="{BB962C8B-B14F-4D97-AF65-F5344CB8AC3E}">
        <p14:creationId xmlns:p14="http://schemas.microsoft.com/office/powerpoint/2010/main" val="27013365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7ECB43E-50EE-4F48-BC0A-8D3F0EDD04CD}" type="datetimeFigureOut">
              <a:rPr lang="en-IN" smtClean="0"/>
              <a:t>11-09-2025</a:t>
            </a:fld>
            <a:endParaRPr lang="en-IN"/>
          </a:p>
        </p:txBody>
      </p:sp>
      <p:sp>
        <p:nvSpPr>
          <p:cNvPr id="8" name="Footer Placeholder 7"/>
          <p:cNvSpPr>
            <a:spLocks noGrp="1"/>
          </p:cNvSpPr>
          <p:nvPr>
            <p:ph type="ftr" sz="quarter" idx="11"/>
          </p:nvPr>
        </p:nvSpPr>
        <p:spPr/>
        <p:txBody>
          <a:bodyPr/>
          <a:lstStyle/>
          <a:p>
            <a:endParaRPr lang="en-IN"/>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A10DD68-FAF8-4F00-BEC5-C5373589FB06}" type="slidenum">
              <a:rPr lang="en-IN" smtClean="0"/>
              <a:t>‹#›</a:t>
            </a:fld>
            <a:endParaRPr lang="en-IN"/>
          </a:p>
        </p:txBody>
      </p:sp>
    </p:spTree>
    <p:extLst>
      <p:ext uri="{BB962C8B-B14F-4D97-AF65-F5344CB8AC3E}">
        <p14:creationId xmlns:p14="http://schemas.microsoft.com/office/powerpoint/2010/main" val="18639200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7ECB43E-50EE-4F48-BC0A-8D3F0EDD04CD}" type="datetimeFigureOut">
              <a:rPr lang="en-IN" smtClean="0"/>
              <a:t>11-09-2025</a:t>
            </a:fld>
            <a:endParaRPr lang="en-IN"/>
          </a:p>
        </p:txBody>
      </p:sp>
      <p:sp>
        <p:nvSpPr>
          <p:cNvPr id="4" name="Footer Placeholder 3"/>
          <p:cNvSpPr>
            <a:spLocks noGrp="1"/>
          </p:cNvSpPr>
          <p:nvPr>
            <p:ph type="ftr" sz="quarter" idx="11"/>
          </p:nvPr>
        </p:nvSpPr>
        <p:spPr/>
        <p:txBody>
          <a:bodyPr/>
          <a:lstStyle/>
          <a:p>
            <a:endParaRPr lang="en-IN"/>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A10DD68-FAF8-4F00-BEC5-C5373589FB06}" type="slidenum">
              <a:rPr lang="en-IN" smtClean="0"/>
              <a:t>‹#›</a:t>
            </a:fld>
            <a:endParaRPr lang="en-IN"/>
          </a:p>
        </p:txBody>
      </p:sp>
    </p:spTree>
    <p:extLst>
      <p:ext uri="{BB962C8B-B14F-4D97-AF65-F5344CB8AC3E}">
        <p14:creationId xmlns:p14="http://schemas.microsoft.com/office/powerpoint/2010/main" val="41638688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7ECB43E-50EE-4F48-BC0A-8D3F0EDD04CD}" type="datetimeFigureOut">
              <a:rPr lang="en-IN" smtClean="0"/>
              <a:t>11-09-2025</a:t>
            </a:fld>
            <a:endParaRPr lang="en-IN"/>
          </a:p>
        </p:txBody>
      </p:sp>
      <p:sp>
        <p:nvSpPr>
          <p:cNvPr id="3" name="Footer Placeholder 2"/>
          <p:cNvSpPr>
            <a:spLocks noGrp="1"/>
          </p:cNvSpPr>
          <p:nvPr>
            <p:ph type="ftr" sz="quarter" idx="11"/>
          </p:nvPr>
        </p:nvSpPr>
        <p:spPr/>
        <p:txBody>
          <a:bodyPr/>
          <a:lstStyle/>
          <a:p>
            <a:endParaRPr lang="en-IN"/>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A10DD68-FAF8-4F00-BEC5-C5373589FB06}" type="slidenum">
              <a:rPr lang="en-IN" smtClean="0"/>
              <a:t>‹#›</a:t>
            </a:fld>
            <a:endParaRPr lang="en-IN"/>
          </a:p>
        </p:txBody>
      </p:sp>
    </p:spTree>
    <p:extLst>
      <p:ext uri="{BB962C8B-B14F-4D97-AF65-F5344CB8AC3E}">
        <p14:creationId xmlns:p14="http://schemas.microsoft.com/office/powerpoint/2010/main" val="13820744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ECB43E-50EE-4F48-BC0A-8D3F0EDD04CD}" type="datetimeFigureOut">
              <a:rPr lang="en-IN" smtClean="0"/>
              <a:t>11-09-2025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A10DD68-FAF8-4F00-BEC5-C5373589FB06}" type="slidenum">
              <a:rPr lang="en-IN" smtClean="0"/>
              <a:t>‹#›</a:t>
            </a:fld>
            <a:endParaRPr lang="en-IN"/>
          </a:p>
        </p:txBody>
      </p:sp>
    </p:spTree>
    <p:extLst>
      <p:ext uri="{BB962C8B-B14F-4D97-AF65-F5344CB8AC3E}">
        <p14:creationId xmlns:p14="http://schemas.microsoft.com/office/powerpoint/2010/main" val="28927739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7ECB43E-50EE-4F48-BC0A-8D3F0EDD04CD}" type="datetimeFigureOut">
              <a:rPr lang="en-IN" smtClean="0"/>
              <a:t>11-09-2025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A10DD68-FAF8-4F00-BEC5-C5373589FB06}" type="slidenum">
              <a:rPr lang="en-IN" smtClean="0"/>
              <a:t>‹#›</a:t>
            </a:fld>
            <a:endParaRPr lang="en-IN"/>
          </a:p>
        </p:txBody>
      </p:sp>
    </p:spTree>
    <p:extLst>
      <p:ext uri="{BB962C8B-B14F-4D97-AF65-F5344CB8AC3E}">
        <p14:creationId xmlns:p14="http://schemas.microsoft.com/office/powerpoint/2010/main" val="1081377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ECB43E-50EE-4F48-BC0A-8D3F0EDD04CD}" type="datetimeFigureOut">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A10DD68-FAF8-4F00-BEC5-C5373589FB06}" type="slidenum">
              <a:rPr lang="en-IN" smtClean="0"/>
              <a:t>‹#›</a:t>
            </a:fld>
            <a:endParaRPr lang="en-IN"/>
          </a:p>
        </p:txBody>
      </p:sp>
    </p:spTree>
    <p:extLst>
      <p:ext uri="{BB962C8B-B14F-4D97-AF65-F5344CB8AC3E}">
        <p14:creationId xmlns:p14="http://schemas.microsoft.com/office/powerpoint/2010/main" val="14266875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D7ECB43E-50EE-4F48-BC0A-8D3F0EDD04CD}" type="datetimeFigureOut">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A10DD68-FAF8-4F00-BEC5-C5373589FB06}" type="slidenum">
              <a:rPr lang="en-IN" smtClean="0"/>
              <a:t>‹#›</a:t>
            </a:fld>
            <a:endParaRPr lang="en-IN"/>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28919779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D7ECB43E-50EE-4F48-BC0A-8D3F0EDD04CD}" type="datetimeFigureOut">
              <a:rPr lang="en-IN" smtClean="0"/>
              <a:t>11-09-2025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A10DD68-FAF8-4F00-BEC5-C5373589FB06}" type="slidenum">
              <a:rPr lang="en-IN" smtClean="0"/>
              <a:t>‹#›</a:t>
            </a:fld>
            <a:endParaRPr lang="en-IN"/>
          </a:p>
        </p:txBody>
      </p:sp>
    </p:spTree>
    <p:extLst>
      <p:ext uri="{BB962C8B-B14F-4D97-AF65-F5344CB8AC3E}">
        <p14:creationId xmlns:p14="http://schemas.microsoft.com/office/powerpoint/2010/main" val="1588151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D7ECB43E-50EE-4F48-BC0A-8D3F0EDD04CD}" type="datetimeFigureOut">
              <a:rPr lang="en-IN" smtClean="0"/>
              <a:t>11-09-2025</a:t>
            </a:fld>
            <a:endParaRPr lang="en-IN"/>
          </a:p>
        </p:txBody>
      </p:sp>
      <p:sp>
        <p:nvSpPr>
          <p:cNvPr id="6" name="Footer Placeholder 5"/>
          <p:cNvSpPr>
            <a:spLocks noGrp="1"/>
          </p:cNvSpPr>
          <p:nvPr>
            <p:ph type="ftr" sz="quarter" idx="11"/>
          </p:nvPr>
        </p:nvSpPr>
        <p:spPr/>
        <p:txBody>
          <a:bodyPr/>
          <a:lstStyle/>
          <a:p>
            <a:endParaRPr lang="en-IN"/>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A10DD68-FAF8-4F00-BEC5-C5373589FB06}" type="slidenum">
              <a:rPr lang="en-IN" smtClean="0"/>
              <a:t>‹#›</a:t>
            </a:fld>
            <a:endParaRPr lang="en-IN"/>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2250109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D7ECB43E-50EE-4F48-BC0A-8D3F0EDD04CD}" type="datetimeFigureOut">
              <a:rPr lang="en-IN" smtClean="0"/>
              <a:t>11-09-2025</a:t>
            </a:fld>
            <a:endParaRPr lang="en-IN"/>
          </a:p>
        </p:txBody>
      </p:sp>
      <p:sp>
        <p:nvSpPr>
          <p:cNvPr id="6" name="Footer Placeholder 5"/>
          <p:cNvSpPr>
            <a:spLocks noGrp="1"/>
          </p:cNvSpPr>
          <p:nvPr>
            <p:ph type="ftr" sz="quarter" idx="11"/>
          </p:nvPr>
        </p:nvSpPr>
        <p:spPr/>
        <p:txBody>
          <a:bodyPr/>
          <a:lstStyle/>
          <a:p>
            <a:endParaRPr lang="en-IN"/>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A10DD68-FAF8-4F00-BEC5-C5373589FB06}" type="slidenum">
              <a:rPr lang="en-IN" smtClean="0"/>
              <a:t>‹#›</a:t>
            </a:fld>
            <a:endParaRPr lang="en-IN"/>
          </a:p>
        </p:txBody>
      </p:sp>
    </p:spTree>
    <p:extLst>
      <p:ext uri="{BB962C8B-B14F-4D97-AF65-F5344CB8AC3E}">
        <p14:creationId xmlns:p14="http://schemas.microsoft.com/office/powerpoint/2010/main" val="20399195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7ECB43E-50EE-4F48-BC0A-8D3F0EDD04CD}" type="datetimeFigureOut">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A10DD68-FAF8-4F00-BEC5-C5373589FB06}" type="slidenum">
              <a:rPr lang="en-IN" smtClean="0"/>
              <a:t>‹#›</a:t>
            </a:fld>
            <a:endParaRPr lang="en-IN"/>
          </a:p>
        </p:txBody>
      </p:sp>
    </p:spTree>
    <p:extLst>
      <p:ext uri="{BB962C8B-B14F-4D97-AF65-F5344CB8AC3E}">
        <p14:creationId xmlns:p14="http://schemas.microsoft.com/office/powerpoint/2010/main" val="24516528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7ECB43E-50EE-4F48-BC0A-8D3F0EDD04CD}" type="datetimeFigureOut">
              <a:rPr lang="en-IN" smtClean="0"/>
              <a:t>11-09-2025</a:t>
            </a:fld>
            <a:endParaRPr lang="en-IN"/>
          </a:p>
        </p:txBody>
      </p:sp>
      <p:sp>
        <p:nvSpPr>
          <p:cNvPr id="5" name="Footer Placeholder 4"/>
          <p:cNvSpPr>
            <a:spLocks noGrp="1"/>
          </p:cNvSpPr>
          <p:nvPr>
            <p:ph type="ftr" sz="quarter" idx="11"/>
          </p:nvPr>
        </p:nvSpPr>
        <p:spPr/>
        <p:txBody>
          <a:bodyPr/>
          <a:lstStyle/>
          <a:p>
            <a:endParaRPr lang="en-IN"/>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A10DD68-FAF8-4F00-BEC5-C5373589FB06}" type="slidenum">
              <a:rPr lang="en-IN" smtClean="0"/>
              <a:t>‹#›</a:t>
            </a:fld>
            <a:endParaRPr lang="en-IN"/>
          </a:p>
        </p:txBody>
      </p:sp>
    </p:spTree>
    <p:extLst>
      <p:ext uri="{BB962C8B-B14F-4D97-AF65-F5344CB8AC3E}">
        <p14:creationId xmlns:p14="http://schemas.microsoft.com/office/powerpoint/2010/main" val="3260900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157"/>
            <a:ext cx="2356674" cy="6853096"/>
            <a:chOff x="6627813" y="195610"/>
            <a:chExt cx="1952625" cy="5678141"/>
          </a:xfrm>
        </p:grpSpPr>
        <p:sp>
          <p:nvSpPr>
            <p:cNvPr id="11" name="Freeform 27"/>
            <p:cNvSpPr/>
            <p:nvPr/>
          </p:nvSpPr>
          <p:spPr bwMode="auto">
            <a:xfrm>
              <a:off x="6627813" y="195610"/>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D7ECB43E-50EE-4F48-BC0A-8D3F0EDD04CD}" type="datetimeFigureOut">
              <a:rPr lang="en-IN" smtClean="0"/>
              <a:t>11-09-2025</a:t>
            </a:fld>
            <a:endParaRPr lang="en-IN"/>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A10DD68-FAF8-4F00-BEC5-C5373589FB06}" type="slidenum">
              <a:rPr lang="en-IN" smtClean="0"/>
              <a:t>‹#›</a:t>
            </a:fld>
            <a:endParaRPr lang="en-IN"/>
          </a:p>
        </p:txBody>
      </p:sp>
    </p:spTree>
    <p:extLst>
      <p:ext uri="{BB962C8B-B14F-4D97-AF65-F5344CB8AC3E}">
        <p14:creationId xmlns:p14="http://schemas.microsoft.com/office/powerpoint/2010/main" val="3044570780"/>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 id="2147483706" r:id="rId12"/>
    <p:sldLayoutId id="2147483707" r:id="rId13"/>
    <p:sldLayoutId id="2147483708" r:id="rId14"/>
    <p:sldLayoutId id="2147483709" r:id="rId15"/>
    <p:sldLayoutId id="2147483710" r:id="rId16"/>
  </p:sldLayoutIdLst>
  <p:txStyles>
    <p:titleStyle>
      <a:lvl1pPr algn="l" defTabSz="457200" rtl="0" eaLnBrk="1" latinLnBrk="0" hangingPunct="1">
        <a:spcBef>
          <a:spcPct val="0"/>
        </a:spcBef>
        <a:buNone/>
        <a:defRPr sz="3600" kern="1200">
          <a:solidFill>
            <a:schemeClr val="accent2">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tmp"/><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059709" y="2281382"/>
            <a:ext cx="8752176" cy="1840218"/>
          </a:xfrm>
          <a:ln>
            <a:noFill/>
          </a:ln>
        </p:spPr>
        <p:txBody>
          <a:bodyPr>
            <a:noAutofit/>
          </a:bodyPr>
          <a:lstStyle/>
          <a:p>
            <a:pPr algn="ctr"/>
            <a:r>
              <a:rPr lang="en-GB" sz="2800" dirty="0">
                <a:latin typeface="Book Antiqua" panose="02040602050305030304" pitchFamily="18" charset="0"/>
                <a:cs typeface="Times New Roman" panose="02020603050405020304" pitchFamily="18" charset="0"/>
              </a:rPr>
              <a:t>REAL-TIME CHAT APPLICATION WITH ON-THE-FLY TEXT COMPRESSION SUPPORTING EMOJI AND MULTILINGUAL MESSAGES</a:t>
            </a:r>
            <a:endParaRPr lang="en-IN" sz="2800" dirty="0">
              <a:latin typeface="Book Antiqua" panose="02040602050305030304" pitchFamily="18" charset="0"/>
              <a:cs typeface="Times New Roman" panose="02020603050405020304" pitchFamily="18" charset="0"/>
            </a:endParaRPr>
          </a:p>
        </p:txBody>
      </p:sp>
      <p:sp>
        <p:nvSpPr>
          <p:cNvPr id="3" name="Subtitle 2"/>
          <p:cNvSpPr>
            <a:spLocks noGrp="1"/>
          </p:cNvSpPr>
          <p:nvPr>
            <p:ph type="subTitle" idx="1"/>
          </p:nvPr>
        </p:nvSpPr>
        <p:spPr>
          <a:xfrm>
            <a:off x="2015042" y="4509524"/>
            <a:ext cx="8915399" cy="1126283"/>
          </a:xfrm>
        </p:spPr>
        <p:txBody>
          <a:bodyPr>
            <a:noAutofit/>
          </a:bodyPr>
          <a:lstStyle/>
          <a:p>
            <a:pPr algn="r"/>
            <a:r>
              <a:rPr lang="en-GB" b="1" dirty="0" smtClean="0">
                <a:latin typeface="Book Antiqua" panose="02040602050305030304" pitchFamily="18" charset="0"/>
              </a:rPr>
              <a:t>TEAM MEMBERS:</a:t>
            </a:r>
          </a:p>
          <a:p>
            <a:pPr marL="342900" indent="-342900" algn="r">
              <a:buAutoNum type="arabicPeriod"/>
            </a:pPr>
            <a:r>
              <a:rPr lang="en-GB" b="1" dirty="0" smtClean="0">
                <a:latin typeface="Book Antiqua" panose="02040602050305030304" pitchFamily="18" charset="0"/>
              </a:rPr>
              <a:t>LOKESHWARI G – 22MID0033</a:t>
            </a:r>
          </a:p>
          <a:p>
            <a:pPr marL="342900" indent="-342900" algn="r">
              <a:buAutoNum type="arabicPeriod"/>
            </a:pPr>
            <a:r>
              <a:rPr lang="en-GB" b="1" dirty="0" smtClean="0">
                <a:latin typeface="Book Antiqua" panose="02040602050305030304" pitchFamily="18" charset="0"/>
              </a:rPr>
              <a:t>ANU SWATHI V R – 22MID0257</a:t>
            </a:r>
          </a:p>
          <a:p>
            <a:pPr marL="342900" indent="-342900" algn="r">
              <a:buAutoNum type="arabicPeriod"/>
            </a:pPr>
            <a:r>
              <a:rPr lang="en-GB" b="1" dirty="0" smtClean="0">
                <a:latin typeface="Book Antiqua" panose="02040602050305030304" pitchFamily="18" charset="0"/>
              </a:rPr>
              <a:t>SUBASHREE S – 22MID0269</a:t>
            </a:r>
            <a:endParaRPr lang="en-IN" b="1" dirty="0">
              <a:latin typeface="Book Antiqua" panose="02040602050305030304" pitchFamily="18" charset="0"/>
            </a:endParaRPr>
          </a:p>
        </p:txBody>
      </p:sp>
      <p:sp>
        <p:nvSpPr>
          <p:cNvPr id="4" name="TextBox 3"/>
          <p:cNvSpPr txBox="1"/>
          <p:nvPr/>
        </p:nvSpPr>
        <p:spPr>
          <a:xfrm>
            <a:off x="2512291" y="1687310"/>
            <a:ext cx="8678285" cy="400110"/>
          </a:xfrm>
          <a:prstGeom prst="rect">
            <a:avLst/>
          </a:prstGeom>
          <a:noFill/>
        </p:spPr>
        <p:txBody>
          <a:bodyPr wrap="square" rtlCol="0">
            <a:spAutoFit/>
          </a:bodyPr>
          <a:lstStyle/>
          <a:p>
            <a:r>
              <a:rPr lang="en-GB" sz="2000" dirty="0" smtClean="0">
                <a:latin typeface="Book Antiqua" panose="02040602050305030304" pitchFamily="18" charset="0"/>
              </a:rPr>
              <a:t>CSI3019 – ADVANCED DATA COMPRESSION TECHNIQUES</a:t>
            </a:r>
            <a:endParaRPr lang="en-IN" sz="2000" dirty="0">
              <a:latin typeface="Book Antiqua" panose="02040602050305030304" pitchFamily="18" charset="0"/>
            </a:endParaRPr>
          </a:p>
        </p:txBody>
      </p:sp>
    </p:spTree>
    <p:extLst>
      <p:ext uri="{BB962C8B-B14F-4D97-AF65-F5344CB8AC3E}">
        <p14:creationId xmlns:p14="http://schemas.microsoft.com/office/powerpoint/2010/main" val="18885483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53309" y="624110"/>
            <a:ext cx="9851303" cy="1260108"/>
          </a:xfrm>
        </p:spPr>
        <p:txBody>
          <a:bodyPr/>
          <a:lstStyle/>
          <a:p>
            <a:pPr algn="ctr"/>
            <a:r>
              <a:rPr lang="en-GB" dirty="0" smtClean="0">
                <a:latin typeface="Book Antiqua" panose="02040602050305030304" pitchFamily="18" charset="0"/>
              </a:rPr>
              <a:t>ABSTRACT</a:t>
            </a:r>
            <a:endParaRPr lang="en-IN" dirty="0">
              <a:latin typeface="Book Antiqua" panose="02040602050305030304" pitchFamily="18" charset="0"/>
            </a:endParaRPr>
          </a:p>
        </p:txBody>
      </p:sp>
      <p:sp>
        <p:nvSpPr>
          <p:cNvPr id="3" name="Content Placeholder 2"/>
          <p:cNvSpPr>
            <a:spLocks noGrp="1"/>
          </p:cNvSpPr>
          <p:nvPr>
            <p:ph idx="1"/>
          </p:nvPr>
        </p:nvSpPr>
        <p:spPr>
          <a:xfrm>
            <a:off x="1653309" y="2133599"/>
            <a:ext cx="9851303" cy="3842327"/>
          </a:xfrm>
        </p:spPr>
        <p:txBody>
          <a:bodyPr>
            <a:normAutofit/>
          </a:bodyPr>
          <a:lstStyle/>
          <a:p>
            <a:pPr marL="0" indent="0">
              <a:buNone/>
            </a:pPr>
            <a:r>
              <a:rPr lang="en-GB" dirty="0" smtClean="0">
                <a:latin typeface="Book Antiqua" panose="02040602050305030304" pitchFamily="18" charset="0"/>
              </a:rPr>
              <a:t>	</a:t>
            </a:r>
            <a:r>
              <a:rPr lang="en-GB" sz="2200" dirty="0" smtClean="0">
                <a:latin typeface="Book Antiqua" panose="02040602050305030304" pitchFamily="18" charset="0"/>
              </a:rPr>
              <a:t>This project proposes a hybrid text compression system combining a persistent JSON-based dictionary with adaptive algorithms like RLE, Huffman, LZW and arithmetic coding.  The system first checks for a dictionary matches to replace frequent words, and then applies adaptive methods for remaining data.  Unlike traditional approaches, the dictionary persists across sessions, improving compression efficiency for repetitive datasets such as chat logs and documents.  The design enhances storage optimization, transmission speed, and long-term compression performance, making it suitable for applications in real-time messaging, archival storage and for efficient message transfer and communication.</a:t>
            </a:r>
            <a:endParaRPr lang="en-IN" sz="2200" dirty="0">
              <a:latin typeface="Book Antiqua" panose="02040602050305030304" pitchFamily="18" charset="0"/>
            </a:endParaRPr>
          </a:p>
        </p:txBody>
      </p:sp>
    </p:spTree>
    <p:extLst>
      <p:ext uri="{BB962C8B-B14F-4D97-AF65-F5344CB8AC3E}">
        <p14:creationId xmlns:p14="http://schemas.microsoft.com/office/powerpoint/2010/main" val="33488194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91856" y="609600"/>
            <a:ext cx="9712756" cy="1295400"/>
          </a:xfrm>
        </p:spPr>
        <p:txBody>
          <a:bodyPr/>
          <a:lstStyle/>
          <a:p>
            <a:pPr algn="ctr"/>
            <a:r>
              <a:rPr lang="en-GB" dirty="0">
                <a:latin typeface="Book Antiqua" panose="02040602050305030304" pitchFamily="18" charset="0"/>
              </a:rPr>
              <a:t>EXISTING METHODOLOGY</a:t>
            </a:r>
            <a:endParaRPr lang="en-IN" dirty="0">
              <a:latin typeface="Book Antiqua" panose="02040602050305030304" pitchFamily="18" charset="0"/>
            </a:endParaRPr>
          </a:p>
        </p:txBody>
      </p:sp>
      <p:sp>
        <p:nvSpPr>
          <p:cNvPr id="3" name="Content Placeholder 2"/>
          <p:cNvSpPr>
            <a:spLocks noGrp="1"/>
          </p:cNvSpPr>
          <p:nvPr>
            <p:ph sz="half" idx="1"/>
          </p:nvPr>
        </p:nvSpPr>
        <p:spPr>
          <a:xfrm>
            <a:off x="1662547" y="1487055"/>
            <a:ext cx="4765962" cy="3860749"/>
          </a:xfrm>
        </p:spPr>
        <p:txBody>
          <a:bodyPr>
            <a:normAutofit fontScale="85000" lnSpcReduction="10000"/>
          </a:bodyPr>
          <a:lstStyle/>
          <a:p>
            <a:pPr marL="0" indent="0" algn="just">
              <a:buNone/>
            </a:pPr>
            <a:r>
              <a:rPr lang="en-GB" b="1" dirty="0" smtClean="0">
                <a:latin typeface="Book Antiqua" panose="02040602050305030304" pitchFamily="18" charset="0"/>
              </a:rPr>
              <a:t>TRADITIONAL AND RESEARCH METHODS:</a:t>
            </a:r>
          </a:p>
          <a:p>
            <a:pPr marL="0" indent="0" algn="just">
              <a:buNone/>
            </a:pPr>
            <a:r>
              <a:rPr lang="en-GB" b="1" dirty="0">
                <a:latin typeface="Book Antiqua" panose="02040602050305030304" pitchFamily="18" charset="0"/>
              </a:rPr>
              <a:t> </a:t>
            </a:r>
            <a:r>
              <a:rPr lang="en-GB" b="1" dirty="0" smtClean="0">
                <a:latin typeface="Book Antiqua" panose="02040602050305030304" pitchFamily="18" charset="0"/>
              </a:rPr>
              <a:t>  </a:t>
            </a:r>
            <a:r>
              <a:rPr lang="en-GB" sz="1600" dirty="0" smtClean="0">
                <a:latin typeface="Book Antiqua" panose="02040602050305030304" pitchFamily="18" charset="0"/>
              </a:rPr>
              <a:t>Most of the research papers explored with one single for compression the texts. Many of them explored only with normal text with single Language without emoji’s. But our project is to explore texts with emoji’s which supports multiple languages.</a:t>
            </a:r>
          </a:p>
          <a:p>
            <a:pPr marL="0" indent="0" algn="just">
              <a:buNone/>
            </a:pPr>
            <a:endParaRPr lang="en-GB" b="1" dirty="0" smtClean="0">
              <a:latin typeface="Book Antiqua" panose="02040602050305030304" pitchFamily="18" charset="0"/>
            </a:endParaRPr>
          </a:p>
          <a:p>
            <a:pPr lvl="1" algn="just">
              <a:buFont typeface="+mj-lt"/>
              <a:buAutoNum type="arabicPeriod"/>
            </a:pPr>
            <a:r>
              <a:rPr lang="en-GB" dirty="0" smtClean="0">
                <a:latin typeface="Book Antiqua" panose="02040602050305030304" pitchFamily="18" charset="0"/>
              </a:rPr>
              <a:t>RLE (Run Length Encoding): Compresses repeated symbols but inefficient for natural text.</a:t>
            </a:r>
          </a:p>
          <a:p>
            <a:pPr lvl="1" algn="just">
              <a:buFont typeface="+mj-lt"/>
              <a:buAutoNum type="arabicPeriod"/>
            </a:pPr>
            <a:r>
              <a:rPr lang="en-GB" dirty="0" smtClean="0">
                <a:latin typeface="Book Antiqua" panose="02040602050305030304" pitchFamily="18" charset="0"/>
              </a:rPr>
              <a:t>Huffman Coding: Variable-length encoding, widely used but not adaptive to dynamic data</a:t>
            </a:r>
          </a:p>
          <a:p>
            <a:pPr lvl="1" algn="just">
              <a:buFont typeface="+mj-lt"/>
              <a:buAutoNum type="arabicPeriod"/>
            </a:pPr>
            <a:r>
              <a:rPr lang="en-GB" dirty="0" smtClean="0">
                <a:latin typeface="Book Antiqua" panose="02040602050305030304" pitchFamily="18" charset="0"/>
              </a:rPr>
              <a:t>LZW (Lempel-Ziv-Welch): Dictionary-based, effective for repeated sequences but resets every session.</a:t>
            </a:r>
            <a:endParaRPr lang="en-IN" dirty="0">
              <a:latin typeface="Book Antiqua" panose="02040602050305030304" pitchFamily="18" charset="0"/>
            </a:endParaRPr>
          </a:p>
        </p:txBody>
      </p:sp>
      <p:sp>
        <p:nvSpPr>
          <p:cNvPr id="4" name="Content Placeholder 3"/>
          <p:cNvSpPr>
            <a:spLocks noGrp="1"/>
          </p:cNvSpPr>
          <p:nvPr>
            <p:ph sz="half" idx="2"/>
          </p:nvPr>
        </p:nvSpPr>
        <p:spPr>
          <a:xfrm>
            <a:off x="6825674" y="1494433"/>
            <a:ext cx="4678938" cy="3853371"/>
          </a:xfrm>
        </p:spPr>
        <p:txBody>
          <a:bodyPr>
            <a:normAutofit fontScale="85000" lnSpcReduction="10000"/>
          </a:bodyPr>
          <a:lstStyle/>
          <a:p>
            <a:pPr marL="0" indent="0" algn="just">
              <a:buNone/>
            </a:pPr>
            <a:r>
              <a:rPr lang="en-GB" b="1" dirty="0" smtClean="0">
                <a:latin typeface="Book Antiqua" panose="02040602050305030304" pitchFamily="18" charset="0"/>
              </a:rPr>
              <a:t>LIMITATIONS:</a:t>
            </a:r>
          </a:p>
          <a:p>
            <a:pPr lvl="1" algn="just">
              <a:buFont typeface="+mj-lt"/>
              <a:buAutoNum type="arabicPeriod"/>
            </a:pPr>
            <a:r>
              <a:rPr lang="en-GB" sz="2000" dirty="0" smtClean="0">
                <a:latin typeface="Book Antiqua" panose="02040602050305030304" pitchFamily="18" charset="0"/>
              </a:rPr>
              <a:t>No persistence: Dictionaries reset after each session.</a:t>
            </a:r>
          </a:p>
          <a:p>
            <a:pPr lvl="1" algn="just">
              <a:buFont typeface="+mj-lt"/>
              <a:buAutoNum type="arabicPeriod"/>
            </a:pPr>
            <a:r>
              <a:rPr lang="en-GB" sz="2000" dirty="0" smtClean="0">
                <a:latin typeface="Book Antiqua" panose="02040602050305030304" pitchFamily="18" charset="0"/>
              </a:rPr>
              <a:t>Classification-centric: Focus on accuracy; not compression efficiency</a:t>
            </a:r>
          </a:p>
          <a:p>
            <a:pPr lvl="1" algn="just">
              <a:buFont typeface="+mj-lt"/>
              <a:buAutoNum type="arabicPeriod"/>
            </a:pPr>
            <a:r>
              <a:rPr lang="en-GB" sz="2000" dirty="0" smtClean="0">
                <a:latin typeface="Book Antiqua" panose="02040602050305030304" pitchFamily="18" charset="0"/>
              </a:rPr>
              <a:t>Not real-time: Limited applicability to streaming data like chats/logs.</a:t>
            </a:r>
          </a:p>
          <a:p>
            <a:pPr lvl="1" algn="just">
              <a:buFont typeface="+mj-lt"/>
              <a:buAutoNum type="arabicPeriod"/>
            </a:pPr>
            <a:r>
              <a:rPr lang="en-GB" sz="2000" dirty="0" smtClean="0">
                <a:latin typeface="Book Antiqua" panose="02040602050305030304" pitchFamily="18" charset="0"/>
              </a:rPr>
              <a:t>Lack in Multiple Language Compression with Emoji’s.</a:t>
            </a:r>
          </a:p>
        </p:txBody>
      </p:sp>
      <p:sp>
        <p:nvSpPr>
          <p:cNvPr id="5" name="Footer Placeholder 4"/>
          <p:cNvSpPr>
            <a:spLocks noGrp="1"/>
          </p:cNvSpPr>
          <p:nvPr>
            <p:ph type="ftr" sz="quarter" idx="11"/>
          </p:nvPr>
        </p:nvSpPr>
        <p:spPr>
          <a:xfrm>
            <a:off x="1791856" y="5467961"/>
            <a:ext cx="8515926" cy="850409"/>
          </a:xfrm>
        </p:spPr>
        <p:txBody>
          <a:bodyPr/>
          <a:lstStyle/>
          <a:p>
            <a:r>
              <a:rPr lang="en-GB" sz="1600" b="1" dirty="0" smtClean="0">
                <a:latin typeface="Book Antiqua" panose="02040602050305030304" pitchFamily="18" charset="0"/>
              </a:rPr>
              <a:t>Base Paper:</a:t>
            </a:r>
          </a:p>
          <a:p>
            <a:r>
              <a:rPr lang="en-GB" sz="1600" dirty="0" smtClean="0">
                <a:latin typeface="Book Antiqua" panose="02040602050305030304" pitchFamily="18" charset="0"/>
              </a:rPr>
              <a:t>Wan, L., </a:t>
            </a:r>
            <a:r>
              <a:rPr lang="en-GB" sz="1600" dirty="0" err="1" smtClean="0">
                <a:latin typeface="Book Antiqua" panose="02040602050305030304" pitchFamily="18" charset="0"/>
              </a:rPr>
              <a:t>Alpcan</a:t>
            </a:r>
            <a:r>
              <a:rPr lang="en-GB" sz="1600" dirty="0" smtClean="0">
                <a:latin typeface="Book Antiqua" panose="02040602050305030304" pitchFamily="18" charset="0"/>
              </a:rPr>
              <a:t>, T., </a:t>
            </a:r>
            <a:r>
              <a:rPr lang="en-GB" sz="1600" dirty="0" err="1" smtClean="0">
                <a:latin typeface="Book Antiqua" panose="02040602050305030304" pitchFamily="18" charset="0"/>
              </a:rPr>
              <a:t>Kuijper</a:t>
            </a:r>
            <a:r>
              <a:rPr lang="en-GB" sz="1600" dirty="0" smtClean="0">
                <a:latin typeface="Book Antiqua" panose="02040602050305030304" pitchFamily="18" charset="0"/>
              </a:rPr>
              <a:t>, M., &amp; </a:t>
            </a:r>
            <a:r>
              <a:rPr lang="en-GB" sz="1600" dirty="0" err="1" smtClean="0">
                <a:latin typeface="Book Antiqua" panose="02040602050305030304" pitchFamily="18" charset="0"/>
              </a:rPr>
              <a:t>Viterbo</a:t>
            </a:r>
            <a:r>
              <a:rPr lang="en-GB" sz="1600" dirty="0" smtClean="0">
                <a:latin typeface="Book Antiqua" panose="02040602050305030304" pitchFamily="18" charset="0"/>
              </a:rPr>
              <a:t>, E. (2024). Lightweight Conceptual Dictionary Learning for Text Classification Using Information Compression. IEEE Transactions on Knowledge and Data Engineering, 36(12), 8711-8717.</a:t>
            </a:r>
            <a:endParaRPr lang="en-IN" sz="1600" dirty="0">
              <a:latin typeface="Book Antiqua" panose="02040602050305030304" pitchFamily="18" charset="0"/>
            </a:endParaRPr>
          </a:p>
        </p:txBody>
      </p:sp>
    </p:spTree>
    <p:extLst>
      <p:ext uri="{BB962C8B-B14F-4D97-AF65-F5344CB8AC3E}">
        <p14:creationId xmlns:p14="http://schemas.microsoft.com/office/powerpoint/2010/main" val="3197954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93456" y="624110"/>
            <a:ext cx="9611156" cy="1195454"/>
          </a:xfrm>
        </p:spPr>
        <p:txBody>
          <a:bodyPr/>
          <a:lstStyle/>
          <a:p>
            <a:pPr algn="ctr"/>
            <a:r>
              <a:rPr lang="en-GB" dirty="0" smtClean="0">
                <a:latin typeface="Book Antiqua" panose="02040602050305030304" pitchFamily="18" charset="0"/>
              </a:rPr>
              <a:t>PROPOSED METHODOLOGY</a:t>
            </a:r>
            <a:endParaRPr lang="en-IN" dirty="0">
              <a:latin typeface="Book Antiqua" panose="02040602050305030304" pitchFamily="18" charset="0"/>
            </a:endParaRPr>
          </a:p>
        </p:txBody>
      </p:sp>
      <p:sp>
        <p:nvSpPr>
          <p:cNvPr id="3" name="Content Placeholder 2"/>
          <p:cNvSpPr>
            <a:spLocks noGrp="1"/>
          </p:cNvSpPr>
          <p:nvPr>
            <p:ph sz="half" idx="1"/>
          </p:nvPr>
        </p:nvSpPr>
        <p:spPr>
          <a:xfrm>
            <a:off x="1893456" y="2041236"/>
            <a:ext cx="5009620" cy="3869986"/>
          </a:xfrm>
        </p:spPr>
        <p:txBody>
          <a:bodyPr>
            <a:normAutofit fontScale="85000" lnSpcReduction="20000"/>
          </a:bodyPr>
          <a:lstStyle/>
          <a:p>
            <a:pPr marL="0" indent="0">
              <a:buNone/>
            </a:pPr>
            <a:r>
              <a:rPr lang="en-IN" b="1" dirty="0">
                <a:latin typeface="Book Antiqua" panose="02040602050305030304" pitchFamily="18" charset="0"/>
              </a:rPr>
              <a:t>Hybrid Dictionary + Adaptive Compression</a:t>
            </a:r>
          </a:p>
          <a:p>
            <a:r>
              <a:rPr lang="en-IN" b="1" dirty="0">
                <a:latin typeface="Book Antiqua" panose="02040602050305030304" pitchFamily="18" charset="0"/>
              </a:rPr>
              <a:t>Persistent JSON-based Dictionary</a:t>
            </a:r>
            <a:endParaRPr lang="en-IN" dirty="0">
              <a:latin typeface="Book Antiqua" panose="02040602050305030304" pitchFamily="18" charset="0"/>
            </a:endParaRPr>
          </a:p>
          <a:p>
            <a:pPr lvl="1"/>
            <a:r>
              <a:rPr lang="en-IN" dirty="0">
                <a:latin typeface="Book Antiqua" panose="02040602050305030304" pitchFamily="18" charset="0"/>
              </a:rPr>
              <a:t>Stores frequently used words across sessions.</a:t>
            </a:r>
          </a:p>
          <a:p>
            <a:pPr lvl="1"/>
            <a:r>
              <a:rPr lang="en-IN" dirty="0">
                <a:latin typeface="Book Antiqua" panose="02040602050305030304" pitchFamily="18" charset="0"/>
              </a:rPr>
              <a:t>Ensures continuity and efficiency for repetitive text (e.g., chats, logs).</a:t>
            </a:r>
          </a:p>
          <a:p>
            <a:r>
              <a:rPr lang="en-IN" b="1" dirty="0">
                <a:latin typeface="Book Antiqua" panose="02040602050305030304" pitchFamily="18" charset="0"/>
              </a:rPr>
              <a:t>Adaptive Compression Algorithms</a:t>
            </a:r>
            <a:endParaRPr lang="en-IN" dirty="0">
              <a:latin typeface="Book Antiqua" panose="02040602050305030304" pitchFamily="18" charset="0"/>
            </a:endParaRPr>
          </a:p>
          <a:p>
            <a:pPr lvl="1"/>
            <a:r>
              <a:rPr lang="en-IN" dirty="0">
                <a:latin typeface="Book Antiqua" panose="02040602050305030304" pitchFamily="18" charset="0"/>
              </a:rPr>
              <a:t>RLE, Huffman, LZW, Arithmetic coding applied after dictionary lookup.</a:t>
            </a:r>
          </a:p>
          <a:p>
            <a:pPr lvl="1"/>
            <a:r>
              <a:rPr lang="en-IN" dirty="0">
                <a:latin typeface="Book Antiqua" panose="02040602050305030304" pitchFamily="18" charset="0"/>
              </a:rPr>
              <a:t>Balances compression ratio and processing speed.</a:t>
            </a:r>
          </a:p>
          <a:p>
            <a:r>
              <a:rPr lang="en-IN" b="1" dirty="0">
                <a:latin typeface="Book Antiqua" panose="02040602050305030304" pitchFamily="18" charset="0"/>
              </a:rPr>
              <a:t>Hybrid Workflow</a:t>
            </a:r>
            <a:endParaRPr lang="en-IN" dirty="0">
              <a:latin typeface="Book Antiqua" panose="02040602050305030304" pitchFamily="18" charset="0"/>
            </a:endParaRPr>
          </a:p>
          <a:p>
            <a:pPr lvl="1"/>
            <a:r>
              <a:rPr lang="en-IN" dirty="0">
                <a:latin typeface="Book Antiqua" panose="02040602050305030304" pitchFamily="18" charset="0"/>
              </a:rPr>
              <a:t>Step 1: Check input against persistent dictionary.</a:t>
            </a:r>
          </a:p>
          <a:p>
            <a:pPr lvl="1"/>
            <a:r>
              <a:rPr lang="en-IN" dirty="0">
                <a:latin typeface="Book Antiqua" panose="02040602050305030304" pitchFamily="18" charset="0"/>
              </a:rPr>
              <a:t>Step 2: Replace matches with compact codes.</a:t>
            </a:r>
          </a:p>
          <a:p>
            <a:pPr lvl="1"/>
            <a:r>
              <a:rPr lang="en-IN" dirty="0">
                <a:latin typeface="Book Antiqua" panose="02040602050305030304" pitchFamily="18" charset="0"/>
              </a:rPr>
              <a:t>Step 3: Apply adaptive compression on remaining data.</a:t>
            </a:r>
          </a:p>
          <a:p>
            <a:pPr marL="0" indent="0">
              <a:buNone/>
            </a:pPr>
            <a:endParaRPr lang="en-IN" dirty="0">
              <a:latin typeface="Book Antiqua" panose="02040602050305030304" pitchFamily="18" charset="0"/>
            </a:endParaRPr>
          </a:p>
        </p:txBody>
      </p:sp>
      <p:sp>
        <p:nvSpPr>
          <p:cNvPr id="4" name="Content Placeholder 3"/>
          <p:cNvSpPr>
            <a:spLocks noGrp="1"/>
          </p:cNvSpPr>
          <p:nvPr>
            <p:ph sz="half" idx="2"/>
          </p:nvPr>
        </p:nvSpPr>
        <p:spPr>
          <a:xfrm>
            <a:off x="7080680" y="2126222"/>
            <a:ext cx="4313864" cy="3777622"/>
          </a:xfrm>
        </p:spPr>
        <p:txBody>
          <a:bodyPr>
            <a:noAutofit/>
          </a:bodyPr>
          <a:lstStyle/>
          <a:p>
            <a:pPr marL="0" indent="0">
              <a:buNone/>
            </a:pPr>
            <a:r>
              <a:rPr lang="en-GB" b="1" dirty="0" smtClean="0">
                <a:latin typeface="Book Antiqua" panose="02040602050305030304" pitchFamily="18" charset="0"/>
              </a:rPr>
              <a:t>Advantages Over Existing Methods</a:t>
            </a:r>
          </a:p>
          <a:p>
            <a:r>
              <a:rPr lang="en-GB" dirty="0" smtClean="0">
                <a:latin typeface="Book Antiqua" panose="02040602050305030304" pitchFamily="18" charset="0"/>
              </a:rPr>
              <a:t> </a:t>
            </a:r>
            <a:r>
              <a:rPr lang="en-GB" b="1" dirty="0" smtClean="0">
                <a:latin typeface="Book Antiqua" panose="02040602050305030304" pitchFamily="18" charset="0"/>
              </a:rPr>
              <a:t>Persistence:</a:t>
            </a:r>
            <a:r>
              <a:rPr lang="en-GB" dirty="0" smtClean="0">
                <a:latin typeface="Book Antiqua" panose="02040602050305030304" pitchFamily="18" charset="0"/>
              </a:rPr>
              <a:t> Dictionary retained across multiple sessions.</a:t>
            </a:r>
          </a:p>
          <a:p>
            <a:r>
              <a:rPr lang="en-GB" dirty="0" smtClean="0">
                <a:latin typeface="Book Antiqua" panose="02040602050305030304" pitchFamily="18" charset="0"/>
              </a:rPr>
              <a:t> </a:t>
            </a:r>
            <a:r>
              <a:rPr lang="en-GB" b="1" dirty="0" smtClean="0">
                <a:latin typeface="Book Antiqua" panose="02040602050305030304" pitchFamily="18" charset="0"/>
              </a:rPr>
              <a:t>Efficiency:</a:t>
            </a:r>
            <a:r>
              <a:rPr lang="en-GB" dirty="0" smtClean="0">
                <a:latin typeface="Book Antiqua" panose="02040602050305030304" pitchFamily="18" charset="0"/>
              </a:rPr>
              <a:t> Combines dictionary + adaptive methods for better compression.</a:t>
            </a:r>
          </a:p>
          <a:p>
            <a:r>
              <a:rPr lang="en-GB" dirty="0" smtClean="0">
                <a:latin typeface="Book Antiqua" panose="02040602050305030304" pitchFamily="18" charset="0"/>
              </a:rPr>
              <a:t> </a:t>
            </a:r>
            <a:r>
              <a:rPr lang="en-GB" b="1" dirty="0" smtClean="0">
                <a:latin typeface="Book Antiqua" panose="02040602050305030304" pitchFamily="18" charset="0"/>
              </a:rPr>
              <a:t>Real-Time Ready:</a:t>
            </a:r>
            <a:r>
              <a:rPr lang="en-GB" dirty="0" smtClean="0">
                <a:latin typeface="Book Antiqua" panose="02040602050305030304" pitchFamily="18" charset="0"/>
              </a:rPr>
              <a:t> Optimized for chat, documents, and streaming text.</a:t>
            </a:r>
          </a:p>
          <a:p>
            <a:r>
              <a:rPr lang="en-GB" dirty="0" smtClean="0">
                <a:latin typeface="Book Antiqua" panose="02040602050305030304" pitchFamily="18" charset="0"/>
              </a:rPr>
              <a:t> </a:t>
            </a:r>
            <a:r>
              <a:rPr lang="en-GB" b="1" dirty="0" smtClean="0">
                <a:latin typeface="Book Antiqua" panose="02040602050305030304" pitchFamily="18" charset="0"/>
              </a:rPr>
              <a:t>Balanced Performance:</a:t>
            </a:r>
            <a:r>
              <a:rPr lang="en-GB" dirty="0" smtClean="0">
                <a:latin typeface="Book Antiqua" panose="02040602050305030304" pitchFamily="18" charset="0"/>
              </a:rPr>
              <a:t> Improves both compression ratio and speed.</a:t>
            </a:r>
          </a:p>
          <a:p>
            <a:pPr marL="0" indent="0">
              <a:buNone/>
            </a:pPr>
            <a:endParaRPr lang="en-IN" sz="2000" dirty="0">
              <a:latin typeface="Book Antiqua" panose="02040602050305030304" pitchFamily="18" charset="0"/>
            </a:endParaRPr>
          </a:p>
        </p:txBody>
      </p:sp>
    </p:spTree>
    <p:extLst>
      <p:ext uri="{BB962C8B-B14F-4D97-AF65-F5344CB8AC3E}">
        <p14:creationId xmlns:p14="http://schemas.microsoft.com/office/powerpoint/2010/main" val="33816147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41905" y="149977"/>
            <a:ext cx="8911687" cy="1280890"/>
          </a:xfrm>
        </p:spPr>
        <p:txBody>
          <a:bodyPr/>
          <a:lstStyle/>
          <a:p>
            <a:r>
              <a:rPr lang="en-GB" dirty="0" smtClean="0"/>
              <a:t>FLOW OF THE PROJECT</a:t>
            </a:r>
            <a:endParaRPr lang="en-IN" dirty="0"/>
          </a:p>
        </p:txBody>
      </p:sp>
      <p:pic>
        <p:nvPicPr>
          <p:cNvPr id="6" name="Content Placeholder 5"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000335" y="685044"/>
            <a:ext cx="5718152" cy="6183359"/>
          </a:xfrm>
        </p:spPr>
      </p:pic>
    </p:spTree>
    <p:extLst>
      <p:ext uri="{BB962C8B-B14F-4D97-AF65-F5344CB8AC3E}">
        <p14:creationId xmlns:p14="http://schemas.microsoft.com/office/powerpoint/2010/main" val="41796981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DECOMPRESSION (REVERSE FLOW)</a:t>
            </a:r>
            <a:endParaRPr lang="en-IN" dirty="0"/>
          </a:p>
        </p:txBody>
      </p:sp>
      <p:pic>
        <p:nvPicPr>
          <p:cNvPr id="4" name="Content Placeholder 3" descr="Screen Clipping"/>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39734" y="1429281"/>
            <a:ext cx="6845289" cy="5428719"/>
          </a:xfrm>
        </p:spPr>
      </p:pic>
    </p:spTree>
    <p:extLst>
      <p:ext uri="{BB962C8B-B14F-4D97-AF65-F5344CB8AC3E}">
        <p14:creationId xmlns:p14="http://schemas.microsoft.com/office/powerpoint/2010/main" val="175451004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9433" y="3007092"/>
            <a:ext cx="8911687" cy="1280890"/>
          </a:xfrm>
        </p:spPr>
        <p:txBody>
          <a:bodyPr>
            <a:normAutofit/>
          </a:bodyPr>
          <a:lstStyle/>
          <a:p>
            <a:pPr algn="ctr"/>
            <a:r>
              <a:rPr lang="en-GB" sz="5400" dirty="0" smtClean="0">
                <a:latin typeface="Book Antiqua" panose="02040602050305030304" pitchFamily="18" charset="0"/>
              </a:rPr>
              <a:t>THANK YOU</a:t>
            </a:r>
            <a:endParaRPr lang="en-IN" sz="5400" dirty="0">
              <a:latin typeface="Book Antiqua" panose="02040602050305030304" pitchFamily="18" charset="0"/>
            </a:endParaRPr>
          </a:p>
        </p:txBody>
      </p:sp>
    </p:spTree>
    <p:extLst>
      <p:ext uri="{BB962C8B-B14F-4D97-AF65-F5344CB8AC3E}">
        <p14:creationId xmlns:p14="http://schemas.microsoft.com/office/powerpoint/2010/main" val="3129139511"/>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2E5369"/>
      </a:dk2>
      <a:lt2>
        <a:srgbClr val="CFE2E7"/>
      </a:lt2>
      <a:accent1>
        <a:srgbClr val="353535"/>
      </a:accent1>
      <a:accent2>
        <a:srgbClr val="31B4E6"/>
      </a:accent2>
      <a:accent3>
        <a:srgbClr val="265991"/>
      </a:accent3>
      <a:accent4>
        <a:srgbClr val="7E40CC"/>
      </a:accent4>
      <a:accent5>
        <a:srgbClr val="B927E9"/>
      </a:accent5>
      <a:accent6>
        <a:srgbClr val="E833BF"/>
      </a:accent6>
      <a:hlink>
        <a:srgbClr val="2DA0F1"/>
      </a:hlink>
      <a:folHlink>
        <a:srgbClr val="7ED1E6"/>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4F34B87B-9C7A-41AE-A6CB-48536223DFF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124</TotalTime>
  <Words>361</Words>
  <Application>Microsoft Office PowerPoint</Application>
  <PresentationFormat>Widescreen</PresentationFormat>
  <Paragraphs>43</Paragraphs>
  <Slides>7</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vt:i4>
      </vt:variant>
    </vt:vector>
  </HeadingPairs>
  <TitlesOfParts>
    <vt:vector size="14" baseType="lpstr">
      <vt:lpstr>Arial</vt:lpstr>
      <vt:lpstr>Book Antiqua</vt:lpstr>
      <vt:lpstr>Calibri</vt:lpstr>
      <vt:lpstr>Century Gothic</vt:lpstr>
      <vt:lpstr>Times New Roman</vt:lpstr>
      <vt:lpstr>Wingdings 3</vt:lpstr>
      <vt:lpstr>Wisp</vt:lpstr>
      <vt:lpstr>REAL-TIME CHAT APPLICATION WITH ON-THE-FLY TEXT COMPRESSION SUPPORTING EMOJI AND MULTILINGUAL MESSAGES</vt:lpstr>
      <vt:lpstr>ABSTRACT</vt:lpstr>
      <vt:lpstr>EXISTING METHODOLOGY</vt:lpstr>
      <vt:lpstr>PROPOSED METHODOLOGY</vt:lpstr>
      <vt:lpstr>FLOW OF THE PROJECT</vt:lpstr>
      <vt:lpstr>DECOMPRESSION (REVERSE FLOW)</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CHAT APPLICATION WITH ON-THE-FLY TEXT COMPRESSION SUPPORTING EMOJI AND MULTILINGUAL MESSAGES</dc:title>
  <dc:creator>Microsoft account</dc:creator>
  <cp:lastModifiedBy>Microsoft account</cp:lastModifiedBy>
  <cp:revision>21</cp:revision>
  <dcterms:created xsi:type="dcterms:W3CDTF">2025-09-05T18:36:45Z</dcterms:created>
  <dcterms:modified xsi:type="dcterms:W3CDTF">2025-09-11T07:02:11Z</dcterms:modified>
</cp:coreProperties>
</file>