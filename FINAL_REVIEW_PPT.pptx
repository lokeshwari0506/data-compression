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78" r:id="rId5"/>
    <p:sldId id="280" r:id="rId6"/>
    <p:sldId id="281" r:id="rId7"/>
    <p:sldId id="288" r:id="rId8"/>
    <p:sldId id="282" r:id="rId9"/>
    <p:sldId id="283" r:id="rId10"/>
    <p:sldId id="284" r:id="rId11"/>
    <p:sldId id="285" r:id="rId12"/>
    <p:sldId id="289" r:id="rId13"/>
    <p:sldId id="286" r:id="rId14"/>
    <p:sldId id="290" r:id="rId15"/>
    <p:sldId id="291" r:id="rId16"/>
    <p:sldId id="287" r:id="rId17"/>
    <p:sldId id="292" r:id="rId18"/>
    <p:sldId id="293" r:id="rId19"/>
    <p:sldId id="294" r:id="rId20"/>
    <p:sldId id="295" r:id="rId21"/>
    <p:sldId id="296" r:id="rId22"/>
    <p:sldId id="297" r:id="rId23"/>
    <p:sldId id="299" r:id="rId24"/>
    <p:sldId id="298" r:id="rId25"/>
    <p:sldId id="300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8802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REAL-TIME CHAT APPLICATION WITH ON-THE-FLY TEXT COMPRESSION SUPPORTING EMOJI AND MULTILINGUAL MESSAGES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b="1" dirty="0"/>
              <a:t>DONE BY :</a:t>
            </a:r>
          </a:p>
          <a:p>
            <a:pPr algn="l"/>
            <a:r>
              <a:rPr lang="en-IN" b="1" dirty="0"/>
              <a:t>22MID0033 – LOKESHWARI G </a:t>
            </a:r>
          </a:p>
          <a:p>
            <a:pPr algn="l"/>
            <a:r>
              <a:rPr lang="en-IN" b="1" dirty="0"/>
              <a:t>22MID0257 – ANU SWATHI V R </a:t>
            </a:r>
          </a:p>
          <a:p>
            <a:pPr algn="l"/>
            <a:r>
              <a:rPr lang="en-IN" b="1" dirty="0"/>
              <a:t>22MID0269 – SUBASHREE S </a:t>
            </a:r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52F7-845D-BA7A-CFA3-EC1B2E26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3269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effectLst/>
              </a:rPr>
              <a:t>Abstract</a:t>
            </a:r>
            <a:br>
              <a:rPr lang="en-IN" dirty="0">
                <a:effectLst/>
              </a:rPr>
            </a:br>
            <a:r>
              <a:rPr lang="en-US" sz="2800" b="1" i="1" dirty="0">
                <a:effectLst/>
              </a:rPr>
              <a:t>Overview of the chat compression system</a:t>
            </a:r>
            <a:endParaRPr lang="en-IN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2086-3BCF-0B1E-C13B-EF3DBF73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41" y="1673469"/>
            <a:ext cx="10353762" cy="3714749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project introduces a real-time multilingual chat application integrated with an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optimised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compression system. Traditional algorithms like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Gzip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Huffman coding work well for simple text but show reduced efficiency when handling dynamic, multilingual chat data.</a:t>
            </a:r>
          </a:p>
          <a:p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overcome this, the system uses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Zstandard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Zstd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enhanced with a custom-trained dictionary tailored to multilingual chat patterns. The architecture includes: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dictionary training module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compression engine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live web interface to view compression results instantly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persistent chat archive for session-level comparison</a:t>
            </a:r>
          </a:p>
          <a:p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system evaluates compression ratios across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Zstd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Gzip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Huffman for every session.</a:t>
            </a:r>
          </a:p>
          <a:p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Experimental results show that dictionary-assisted </a:t>
            </a:r>
            <a:r>
              <a:rPr lang="en-US" sz="8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Zstd</a:t>
            </a:r>
            <a:r>
              <a:rPr lang="en-US" sz="8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achieves the highest compression ratio, reduced storage usage, and faster decompression, especially in multilingual environments where redundancy patterns vary across languages.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43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710A-46C7-8146-4C50-683C7FA2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– Background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D8ACDB-5049-566A-A200-1A705C3F0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025611"/>
            <a:ext cx="1115568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Rapid growth in digital communication generates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massive volumes of text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every second.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Messaging apps and multilingual chat platforms require efficient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storage, transmission, and processing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Data compression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has become essential to overcome: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Storage limitations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Bandwidth constraints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Real-time communication demands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9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A0A5-5084-D912-AC56-36E0FDCA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83029"/>
            <a:ext cx="10353762" cy="1257300"/>
          </a:xfrm>
        </p:spPr>
        <p:txBody>
          <a:bodyPr>
            <a:noAutofit/>
          </a:bodyPr>
          <a:lstStyle/>
          <a:p>
            <a:r>
              <a:rPr lang="en-IN" sz="5400" b="1" dirty="0"/>
              <a:t>Existing Approach</a:t>
            </a:r>
            <a:br>
              <a:rPr lang="en-IN" sz="5400" b="1" dirty="0"/>
            </a:br>
            <a:endParaRPr lang="en-IN" sz="5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D5E6B4-EA85-52E8-8133-D07E74593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533170"/>
            <a:ext cx="832817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Traditional algorithms: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Huffman → symbol-based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LZW → dynamic dictionary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Gzip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DEFLATE-based</a:t>
            </a: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Limitations: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linguistic awareness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Poor handling of mixed-language messages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Inefficient for short or emoji-heavy text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 cross-message pattern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optimisation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35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A857-9C3D-72EE-C7AD-0F6A41788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96361"/>
            <a:ext cx="10353762" cy="1257300"/>
          </a:xfrm>
        </p:spPr>
        <p:txBody>
          <a:bodyPr/>
          <a:lstStyle/>
          <a:p>
            <a:r>
              <a:rPr lang="en-IN" b="1" dirty="0"/>
              <a:t>Limitations of Traditional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B087-39CF-8E0D-0CC3-49DE04A0B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53661"/>
            <a:ext cx="10353762" cy="4734868"/>
          </a:xfrm>
        </p:spPr>
        <p:txBody>
          <a:bodyPr>
            <a:normAutofit fontScale="25000" lnSpcReduction="20000"/>
          </a:bodyPr>
          <a:lstStyle/>
          <a:p>
            <a:pPr marL="36900" indent="0">
              <a:buNone/>
            </a:pPr>
            <a:r>
              <a:rPr lang="en-IN" sz="8000" b="1" dirty="0">
                <a:solidFill>
                  <a:schemeClr val="tx1"/>
                </a:solidFill>
              </a:rPr>
              <a:t>Common Algorithms :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Huffman Coding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Run-Length Encoding (RLE)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Lempel-Ziv family (LZ77, LZW)</a:t>
            </a:r>
          </a:p>
          <a:p>
            <a:pPr marL="36900" indent="0">
              <a:buNone/>
            </a:pPr>
            <a:r>
              <a:rPr lang="en-IN" sz="8000" b="1" dirty="0">
                <a:solidFill>
                  <a:schemeClr val="tx1"/>
                </a:solidFill>
              </a:rPr>
              <a:t>Issues :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Designed primarily for monolingual or uniform datasets.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Reduced efficiency with multilingual chat data mixing English, Hindi, Tamil, etc.</a:t>
            </a:r>
          </a:p>
          <a:p>
            <a:pPr lvl="1"/>
            <a:r>
              <a:rPr lang="en-IN" sz="8000" b="1" dirty="0">
                <a:solidFill>
                  <a:schemeClr val="tx1"/>
                </a:solidFill>
              </a:rPr>
              <a:t>Lack of repetitive patterns across languages leads to: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8000" b="1" dirty="0">
                <a:solidFill>
                  <a:schemeClr val="tx1"/>
                </a:solidFill>
              </a:rPr>
              <a:t>Lower compression ratios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sz="8000" b="1" dirty="0">
                <a:solidFill>
                  <a:schemeClr val="tx1"/>
                </a:solidFill>
              </a:rPr>
              <a:t>Ineffective redundancy detection</a:t>
            </a:r>
          </a:p>
          <a:p>
            <a:pPr marL="36900" indent="0">
              <a:buNone/>
            </a:pPr>
            <a:r>
              <a:rPr lang="en-US" sz="8000" b="1" dirty="0"/>
              <a:t>Project Goal:</a:t>
            </a:r>
            <a:br>
              <a:rPr lang="en-US" sz="8000" dirty="0"/>
            </a:br>
            <a:r>
              <a:rPr lang="en-US" sz="8000" dirty="0"/>
              <a:t>To </a:t>
            </a:r>
            <a:r>
              <a:rPr lang="en-US" sz="8000" dirty="0">
                <a:solidFill>
                  <a:schemeClr val="tx1"/>
                </a:solidFill>
              </a:rPr>
              <a:t>demonstrate how the algorithms Huffman, </a:t>
            </a:r>
            <a:r>
              <a:rPr lang="en-US" sz="8000" dirty="0" err="1">
                <a:solidFill>
                  <a:schemeClr val="tx1"/>
                </a:solidFill>
              </a:rPr>
              <a:t>Gzip</a:t>
            </a:r>
            <a:r>
              <a:rPr lang="en-US" sz="8000" dirty="0">
                <a:solidFill>
                  <a:schemeClr val="tx1"/>
                </a:solidFill>
              </a:rPr>
              <a:t>, </a:t>
            </a:r>
            <a:r>
              <a:rPr lang="en-US" sz="8000" dirty="0" err="1">
                <a:solidFill>
                  <a:schemeClr val="tx1"/>
                </a:solidFill>
              </a:rPr>
              <a:t>Zstandard</a:t>
            </a:r>
            <a:r>
              <a:rPr lang="en-US" sz="8000" dirty="0">
                <a:solidFill>
                  <a:schemeClr val="tx1"/>
                </a:solidFill>
              </a:rPr>
              <a:t> </a:t>
            </a:r>
            <a:r>
              <a:rPr lang="en-US" sz="8000" dirty="0" err="1">
                <a:solidFill>
                  <a:schemeClr val="tx1"/>
                </a:solidFill>
              </a:rPr>
              <a:t>wprks</a:t>
            </a:r>
            <a:r>
              <a:rPr lang="en-US" sz="8000" dirty="0">
                <a:solidFill>
                  <a:schemeClr val="tx1"/>
                </a:solidFill>
              </a:rPr>
              <a:t> for real time Data Streaming and to store for the backup data.  </a:t>
            </a:r>
            <a:endParaRPr lang="en-IN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816E-4AFB-624C-8DF7-CFD5A9E7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43608"/>
            <a:ext cx="10353762" cy="1257300"/>
          </a:xfrm>
        </p:spPr>
        <p:txBody>
          <a:bodyPr/>
          <a:lstStyle/>
          <a:p>
            <a:r>
              <a:rPr lang="en-US" b="1" dirty="0"/>
              <a:t>Need for a Multilingual-Aware Solution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D038A3-0BA4-4B20-B8A9-6EF6048D6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6" y="1671667"/>
            <a:ext cx="103537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Multilingual data introduces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diverse linguistic structures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General compression algorithms fail to capture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cross-language patterns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Requires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customized, adaptive compression approach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learns multilingual text behavior.</a:t>
            </a:r>
          </a:p>
        </p:txBody>
      </p:sp>
    </p:spTree>
    <p:extLst>
      <p:ext uri="{BB962C8B-B14F-4D97-AF65-F5344CB8AC3E}">
        <p14:creationId xmlns:p14="http://schemas.microsoft.com/office/powerpoint/2010/main" val="265209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F0E4-6EE6-493E-BDF4-63512542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Solution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FECA-C03D-BD37-25C7-DD0C22490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4171950"/>
          </a:xfrm>
        </p:spPr>
        <p:txBody>
          <a:bodyPr>
            <a:normAutofit fontScale="92500"/>
          </a:bodyPr>
          <a:lstStyle/>
          <a:p>
            <a:pPr marL="36900" indent="0">
              <a:buNone/>
            </a:pPr>
            <a:r>
              <a:rPr lang="en-US" sz="3000" b="1" dirty="0"/>
              <a:t>Goal: </a:t>
            </a:r>
            <a:r>
              <a:rPr lang="en-US" sz="3000" b="1" dirty="0">
                <a:solidFill>
                  <a:schemeClr val="tx1"/>
                </a:solidFill>
              </a:rPr>
              <a:t>Develop a compression system </a:t>
            </a:r>
            <a:r>
              <a:rPr lang="en-US" sz="3000" b="1" dirty="0" err="1">
                <a:solidFill>
                  <a:schemeClr val="tx1"/>
                </a:solidFill>
              </a:rPr>
              <a:t>optimised</a:t>
            </a:r>
            <a:r>
              <a:rPr lang="en-US" sz="3000" b="1" dirty="0">
                <a:solidFill>
                  <a:schemeClr val="tx1"/>
                </a:solidFill>
              </a:rPr>
              <a:t> for multilingual chat data.</a:t>
            </a:r>
          </a:p>
          <a:p>
            <a:pPr marL="36900" indent="0">
              <a:buNone/>
            </a:pPr>
            <a:r>
              <a:rPr lang="en-US" sz="3000" b="1" dirty="0"/>
              <a:t>Approach: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Use </a:t>
            </a:r>
            <a:r>
              <a:rPr lang="en-US" sz="3000" b="1" dirty="0" err="1">
                <a:solidFill>
                  <a:schemeClr val="tx1"/>
                </a:solidFill>
              </a:rPr>
              <a:t>Zstandard</a:t>
            </a:r>
            <a:r>
              <a:rPr lang="en-US" sz="3000" b="1" dirty="0">
                <a:solidFill>
                  <a:schemeClr val="tx1"/>
                </a:solidFill>
              </a:rPr>
              <a:t> (</a:t>
            </a:r>
            <a:r>
              <a:rPr lang="en-US" sz="3000" b="1" dirty="0" err="1">
                <a:solidFill>
                  <a:schemeClr val="tx1"/>
                </a:solidFill>
              </a:rPr>
              <a:t>Zstd</a:t>
            </a:r>
            <a:r>
              <a:rPr lang="en-US" sz="3000" b="1" dirty="0">
                <a:solidFill>
                  <a:schemeClr val="tx1"/>
                </a:solidFill>
              </a:rPr>
              <a:t>) for its speed and high compression capability.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Enhance </a:t>
            </a:r>
            <a:r>
              <a:rPr lang="en-US" sz="3000" b="1" dirty="0" err="1">
                <a:solidFill>
                  <a:schemeClr val="tx1"/>
                </a:solidFill>
              </a:rPr>
              <a:t>Zstd</a:t>
            </a:r>
            <a:r>
              <a:rPr lang="en-US" sz="3000" b="1" dirty="0">
                <a:solidFill>
                  <a:schemeClr val="tx1"/>
                </a:solidFill>
              </a:rPr>
              <a:t> with a custom-trained dictionary built from multilingual chat samples.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Capture common words, phrases, and patterns across languages.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45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A3E1-4956-B541-4FE6-6A55831F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9786"/>
            <a:ext cx="10353762" cy="1257300"/>
          </a:xfrm>
        </p:spPr>
        <p:txBody>
          <a:bodyPr/>
          <a:lstStyle/>
          <a:p>
            <a:r>
              <a:rPr lang="en-IN" b="1" dirty="0"/>
              <a:t>System Architecture – Key Modules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46AC71-79B7-AE6D-45EC-CBE63932AA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650" y="1739447"/>
            <a:ext cx="946015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1.Dictionary Training Module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Trains multilingual dictionary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Captures frequent words, emojis,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2.Compression/Decompression Module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Performs fast, lossless compression using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Zstd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Dict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3.User Interface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Web-based real-time chat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Shows size, ratio &amp; comparison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651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AE3D0-17AA-F089-ED2F-802C63F2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System Architecture of how the Process will be done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BF614-7D79-120B-0178-2CDF9987C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743" y="2076450"/>
            <a:ext cx="7788728" cy="41719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01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31A3-A7AA-8031-68F4-D154E3E5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80" y="0"/>
            <a:ext cx="10353762" cy="1257300"/>
          </a:xfrm>
        </p:spPr>
        <p:txBody>
          <a:bodyPr/>
          <a:lstStyle/>
          <a:p>
            <a:r>
              <a:rPr lang="en-IN" b="1" dirty="0"/>
              <a:t>Overall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054602-9C5A-93E7-69C6-A565F24A00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440837"/>
            <a:ext cx="10903067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Combine the strength of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general-purpose compression (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Zstd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specialized multilingual pattern learning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Bridges the gap between: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Traditional algorithms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Real-world multilingual communication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Improves: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Compression ratio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Storage efficiency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Transmission speed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3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B704-E08A-CB81-4F07-DC524424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Detailed Workflow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9B64B8-F2EA-F7DB-4991-FD0F4C49A4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948665"/>
            <a:ext cx="1013020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Collect multilingual chat data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Train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Zstd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dictionary (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multilingual_chat_dict.zstd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Integrate dictionary with Flask-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SocketIO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chat app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each message:</a:t>
            </a:r>
          </a:p>
          <a:p>
            <a:pPr marL="9486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Compress using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Zstd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Dict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Gzip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Huffman</a:t>
            </a:r>
          </a:p>
          <a:p>
            <a:pPr marL="9486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Calculate size &amp; ratio</a:t>
            </a: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Display compression results live in console</a:t>
            </a:r>
          </a:p>
        </p:txBody>
      </p:sp>
    </p:spTree>
    <p:extLst>
      <p:ext uri="{BB962C8B-B14F-4D97-AF65-F5344CB8AC3E}">
        <p14:creationId xmlns:p14="http://schemas.microsoft.com/office/powerpoint/2010/main" val="388058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B25B-699A-E995-D188-402FBCE1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Cont..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FAC44F-7AAF-255D-AA08-B7DA7F47B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948666"/>
            <a:ext cx="952119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b="1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Store chat in:</a:t>
            </a:r>
          </a:p>
          <a:p>
            <a:pPr marL="9486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chat_history.json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(raw text)</a:t>
            </a:r>
          </a:p>
          <a:p>
            <a:pPr marL="9486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chat_archive.zst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(compressed stream)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b="1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7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On disconnect,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finalise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compression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600" b="1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Show final summary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9. Automatic reloading of previous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10. Dictionary improves over time with more data</a:t>
            </a:r>
          </a:p>
        </p:txBody>
      </p:sp>
    </p:spTree>
    <p:extLst>
      <p:ext uri="{BB962C8B-B14F-4D97-AF65-F5344CB8AC3E}">
        <p14:creationId xmlns:p14="http://schemas.microsoft.com/office/powerpoint/2010/main" val="2655052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E248-A8AC-3B67-DF7E-A3566829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Benefits of 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6179FB-4F07-0037-E1AB-6B76E81D7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186" y="2128279"/>
            <a:ext cx="125431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Higher compression ratios for multilingual data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Faster decompression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Real-time analytics for each message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Supports emojis &amp; code-mixed text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Persistent storage with reduced size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Scalable &amp; adaptive with continuous dictionary training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Lossless recovery of all messages</a:t>
            </a:r>
          </a:p>
        </p:txBody>
      </p:sp>
    </p:spTree>
    <p:extLst>
      <p:ext uri="{BB962C8B-B14F-4D97-AF65-F5344CB8AC3E}">
        <p14:creationId xmlns:p14="http://schemas.microsoft.com/office/powerpoint/2010/main" val="386084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F5A7-E671-ADAB-8B93-CC36EC78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046" y="365693"/>
            <a:ext cx="10353762" cy="970450"/>
          </a:xfrm>
        </p:spPr>
        <p:txBody>
          <a:bodyPr/>
          <a:lstStyle/>
          <a:p>
            <a:r>
              <a:rPr lang="en-IN" b="1" dirty="0"/>
              <a:t>Comparison of Algorithms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CF5F7-FEDB-FF38-6621-3A786D69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637898"/>
            <a:ext cx="3300984" cy="764782"/>
          </a:xfrm>
        </p:spPr>
        <p:txBody>
          <a:bodyPr/>
          <a:lstStyle/>
          <a:p>
            <a:r>
              <a:rPr lang="en-IN" sz="3600" b="1" dirty="0">
                <a:solidFill>
                  <a:schemeClr val="tx2"/>
                </a:solidFill>
              </a:rPr>
              <a:t>Huffman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7F6FE-82D4-FD38-225A-D9628F380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435" y="1432230"/>
            <a:ext cx="3300984" cy="970450"/>
          </a:xfrm>
        </p:spPr>
        <p:txBody>
          <a:bodyPr/>
          <a:lstStyle/>
          <a:p>
            <a:r>
              <a:rPr lang="en-IN" sz="3600" b="1" dirty="0" err="1">
                <a:solidFill>
                  <a:schemeClr val="tx2"/>
                </a:solidFill>
              </a:rPr>
              <a:t>Gzip</a:t>
            </a:r>
            <a:endParaRPr lang="en-IN" sz="3600" b="1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FF1AB5-B75A-12E9-C23E-F2AB46A407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3600" b="1" dirty="0" err="1">
                <a:solidFill>
                  <a:schemeClr val="tx2"/>
                </a:solidFill>
              </a:rPr>
              <a:t>Zstd</a:t>
            </a:r>
            <a:r>
              <a:rPr lang="en-IN" sz="3600" b="1" dirty="0">
                <a:solidFill>
                  <a:schemeClr val="tx2"/>
                </a:solidFill>
              </a:rPr>
              <a:t> + Dictionary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E1B27F0-167C-4687-AA30-F9A9C21F4397}"/>
              </a:ext>
            </a:extLst>
          </p:cNvPr>
          <p:cNvSpPr>
            <a:spLocks noGrp="1" noChangeArrowheads="1"/>
          </p:cNvSpPr>
          <p:nvPr>
            <p:ph type="body" sz="half" idx="15"/>
          </p:nvPr>
        </p:nvSpPr>
        <p:spPr bwMode="auto">
          <a:xfrm>
            <a:off x="913795" y="3156272"/>
            <a:ext cx="290709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for short messages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Very high savings for single messages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E31A336-F73D-0D56-7551-9D6373ADBC84}"/>
              </a:ext>
            </a:extLst>
          </p:cNvPr>
          <p:cNvSpPr>
            <a:spLocks noGrp="1" noChangeArrowheads="1"/>
          </p:cNvSpPr>
          <p:nvPr>
            <p:ph type="body" sz="half" idx="16"/>
          </p:nvPr>
        </p:nvSpPr>
        <p:spPr bwMode="auto">
          <a:xfrm>
            <a:off x="4441435" y="3254243"/>
            <a:ext cx="330098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Moderate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Good for longer messages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6B64FC1-2C5D-75E3-111F-EACA8F101DAF}"/>
              </a:ext>
            </a:extLst>
          </p:cNvPr>
          <p:cNvSpPr>
            <a:spLocks noGrp="1" noChangeArrowheads="1"/>
          </p:cNvSpPr>
          <p:nvPr>
            <p:ph type="body" sz="half" idx="17"/>
          </p:nvPr>
        </p:nvSpPr>
        <p:spPr bwMode="auto">
          <a:xfrm>
            <a:off x="7966572" y="3254243"/>
            <a:ext cx="37573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Initially moderate for short texts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for entire multilingual chat session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Achieved 64.8% overall savings</a:t>
            </a:r>
          </a:p>
        </p:txBody>
      </p:sp>
    </p:spTree>
    <p:extLst>
      <p:ext uri="{BB962C8B-B14F-4D97-AF65-F5344CB8AC3E}">
        <p14:creationId xmlns:p14="http://schemas.microsoft.com/office/powerpoint/2010/main" val="2136715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EA72-3AC2-412A-825A-0A0DD312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&amp; 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7160B-77AB-4A29-C6D6-0FDEC1622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225664"/>
            <a:ext cx="1066131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Huffman performs best on individual short messages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Gzip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balanced but limited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Zstd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+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Dict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achieves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highest overall compression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Captures cross-language redundancy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Performance improves with chat length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Ideal for real-time multilingual communication systems</a:t>
            </a:r>
          </a:p>
        </p:txBody>
      </p:sp>
    </p:spTree>
    <p:extLst>
      <p:ext uri="{BB962C8B-B14F-4D97-AF65-F5344CB8AC3E}">
        <p14:creationId xmlns:p14="http://schemas.microsoft.com/office/powerpoint/2010/main" val="2606397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52E9-FB3F-0998-C88C-5169D0C4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740229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SCREENSHOTS OF THE IMPLEMENTATION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Message from the sender side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1ECF8-D762-F071-ACF4-CE93E73F2E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661" y="2609849"/>
            <a:ext cx="6864027" cy="40304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947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414-CD53-4A04-5688-F8B5A185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Message from the Receiver side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6667FF-CBFA-4D51-D3FE-FE457FED3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572" y="2076449"/>
            <a:ext cx="7135586" cy="41719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7938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B44A-FAB2-303E-A7E8-8B26092DE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900" b="1" dirty="0"/>
            </a:br>
            <a:r>
              <a:rPr lang="en-US" sz="4900" b="1" dirty="0"/>
              <a:t>Compression Table for the Messages </a:t>
            </a:r>
            <a:br>
              <a:rPr lang="en-US" b="1" dirty="0"/>
            </a:br>
            <a:br>
              <a:rPr lang="en-US" sz="4400" b="1" dirty="0"/>
            </a:br>
            <a:r>
              <a:rPr lang="en-US" sz="4400" b="1" dirty="0"/>
              <a:t>Compression Ratio for every message (in the terminal): 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BEDD1-2B2F-F9C3-4778-B0F222E38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755" y="2749946"/>
            <a:ext cx="8539842" cy="382720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6725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C256-9B75-9524-FE28-393964CB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Compression Table for each of the Messages </a:t>
            </a:r>
            <a:endParaRPr lang="en-IN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B1E9912-6AD5-31FF-6686-5D5E8A595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170173"/>
            <a:ext cx="10353675" cy="35273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168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6F4D9-8EEC-9864-D17D-E061E349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Compression Table for every message in the chat </a:t>
            </a:r>
            <a:endParaRPr lang="en-IN" b="1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ED3E83C-9B71-BCE4-9D92-29DBDB47D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2240" y="2076450"/>
            <a:ext cx="6690360" cy="397383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9732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7FB5-663B-F42E-01AE-C7D0E994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/>
              <a:t>Overall Summary of the Whole chat Messages </a:t>
            </a:r>
            <a:endParaRPr lang="en-IN" sz="4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D4CE4A-6D30-C7BD-37FC-070170236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557999"/>
            <a:ext cx="10353675" cy="275165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044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D7F9-1FE5-79C9-02C5-928B1634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AF530E-21BF-ECBA-664D-E6A717D83D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671667"/>
            <a:ext cx="1053544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Zstd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a trained dictionary outperforms Huffman &amp;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Gzip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Efficient for multilingual and emoji-rich chat messages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Integrates smoothly with real-time Flask-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SocketIO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application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Ensures: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 compression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Low storage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 decompression</a:t>
            </a:r>
          </a:p>
          <a:p>
            <a:pPr marL="8343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Lossless recovery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Dictionary retraining makes system adaptive &amp; scalable</a:t>
            </a:r>
          </a:p>
        </p:txBody>
      </p:sp>
    </p:spTree>
    <p:extLst>
      <p:ext uri="{BB962C8B-B14F-4D97-AF65-F5344CB8AC3E}">
        <p14:creationId xmlns:p14="http://schemas.microsoft.com/office/powerpoint/2010/main" val="3775619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5450" y="2197015"/>
            <a:ext cx="4538124" cy="2463970"/>
          </a:xfrm>
        </p:spPr>
        <p:txBody>
          <a:bodyPr anchor="b">
            <a:noAutofit/>
          </a:bodyPr>
          <a:lstStyle/>
          <a:p>
            <a:r>
              <a:rPr lang="en-US" sz="8800" dirty="0"/>
              <a:t>Thank You!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4069080"/>
            <a:ext cx="4403596" cy="1722120"/>
          </a:xfrm>
        </p:spPr>
        <p:txBody>
          <a:bodyPr anchor="t">
            <a:normAutofit/>
          </a:bodyPr>
          <a:lstStyle/>
          <a:p>
            <a:pPr marL="3690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{64501E83-6A95-4A9A-86E8-B6F9FABD681F}tf55705232_win32</Template>
  <TotalTime>254</TotalTime>
  <Words>851</Words>
  <Application>Microsoft Office PowerPoint</Application>
  <PresentationFormat>Widescreen</PresentationFormat>
  <Paragraphs>137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Goudy Old Style</vt:lpstr>
      <vt:lpstr>Wingdings</vt:lpstr>
      <vt:lpstr>Wingdings 2</vt:lpstr>
      <vt:lpstr>SlateVTI</vt:lpstr>
      <vt:lpstr>REAL-TIME CHAT APPLICATION WITH ON-THE-FLY TEXT COMPRESSION SUPPORTING EMOJI AND MULTILINGUAL MESSAGES</vt:lpstr>
      <vt:lpstr>Abstract Overview of the chat compression system</vt:lpstr>
      <vt:lpstr>Introduction – Background</vt:lpstr>
      <vt:lpstr>Existing Approach </vt:lpstr>
      <vt:lpstr>Limitations of Traditional Compression</vt:lpstr>
      <vt:lpstr>Need for a Multilingual-Aware Solution</vt:lpstr>
      <vt:lpstr>Proposed Solution – Overview</vt:lpstr>
      <vt:lpstr>System Architecture – Key Modules</vt:lpstr>
      <vt:lpstr>System Architecture of how the Process will be done</vt:lpstr>
      <vt:lpstr>Overall Strategy</vt:lpstr>
      <vt:lpstr>Detailed Workflow </vt:lpstr>
      <vt:lpstr>Cont..</vt:lpstr>
      <vt:lpstr>Benefits of Proposed System</vt:lpstr>
      <vt:lpstr>Comparison of Algorithms</vt:lpstr>
      <vt:lpstr>Results &amp; Discussion</vt:lpstr>
      <vt:lpstr>SCREENSHOTS OF THE IMPLEMENTATION  Message from the sender side</vt:lpstr>
      <vt:lpstr>Message from the Receiver side</vt:lpstr>
      <vt:lpstr> Compression Table for the Messages   Compression Ratio for every message (in the terminal): </vt:lpstr>
      <vt:lpstr>Compression Table for each of the Messages </vt:lpstr>
      <vt:lpstr>Compression Table for every message in the chat </vt:lpstr>
      <vt:lpstr>Overall Summary of the Whole chat Messages 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vijaihari haran</dc:creator>
  <cp:lastModifiedBy>vijaihari haran</cp:lastModifiedBy>
  <cp:revision>3</cp:revision>
  <dcterms:created xsi:type="dcterms:W3CDTF">2025-11-13T06:39:12Z</dcterms:created>
  <dcterms:modified xsi:type="dcterms:W3CDTF">2025-11-13T10:53:44Z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